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6299-87CB-482B-B750-90E69B654586}" type="datetimeFigureOut">
              <a:rPr lang="en-ID" smtClean="0"/>
              <a:t>27/11/2023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150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6299-87CB-482B-B750-90E69B654586}" type="datetimeFigureOut">
              <a:rPr lang="en-ID" smtClean="0"/>
              <a:t>27/11/2023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665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572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32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452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19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502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700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670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379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374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0853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0163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5300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4802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978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71C77BA-F1E2-4336-848D-CB454DE816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803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</p:sldLayoutIdLst>
  <p:transition>
    <p:fade thruBlk="1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CE12-5E2D-AD54-18E8-115E399B8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Significant Earthquakes, 1965-2016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19AE6-809A-916E-5399-7F2C83405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5697557"/>
            <a:ext cx="5357600" cy="32294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Jundiah Indira Milka Tsauri (3122521020)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2158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F296-D8A3-1DAD-5B08-CDB2185D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Penjelasan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71EA-BF58-8DE0-8DEE-461359F5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05458"/>
            <a:ext cx="7796540" cy="1199084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dirty="0"/>
              <a:t>Dataset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data </a:t>
            </a:r>
            <a:r>
              <a:rPr lang="en-ID" dirty="0" err="1"/>
              <a:t>tanggal</a:t>
            </a:r>
            <a:r>
              <a:rPr lang="en-ID" dirty="0"/>
              <a:t>, </a:t>
            </a:r>
            <a:r>
              <a:rPr lang="en-ID" dirty="0" err="1"/>
              <a:t>waktu</a:t>
            </a:r>
            <a:r>
              <a:rPr lang="en-ID" dirty="0"/>
              <a:t>, dan </a:t>
            </a:r>
            <a:r>
              <a:rPr lang="en-ID" dirty="0" err="1"/>
              <a:t>lokasi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gempa</a:t>
            </a:r>
            <a:r>
              <a:rPr lang="en-ID" dirty="0"/>
              <a:t> </a:t>
            </a:r>
            <a:r>
              <a:rPr lang="en-ID" dirty="0" err="1"/>
              <a:t>bumi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magnitudo</a:t>
            </a:r>
            <a:r>
              <a:rPr lang="en-ID" dirty="0"/>
              <a:t> 5,5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1965-2016.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DCCC91-4D6B-1450-06C2-B0B5BEECB0AB}"/>
              </a:ext>
            </a:extLst>
          </p:cNvPr>
          <p:cNvSpPr txBox="1">
            <a:spLocks/>
          </p:cNvSpPr>
          <p:nvPr/>
        </p:nvSpPr>
        <p:spPr>
          <a:xfrm>
            <a:off x="2592925" y="3185890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Alasan</a:t>
            </a:r>
            <a:endParaRPr lang="en-ID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C979-21B8-BD6E-C656-2CF95255BB93}"/>
              </a:ext>
            </a:extLst>
          </p:cNvPr>
          <p:cNvSpPr txBox="1">
            <a:spLocks/>
          </p:cNvSpPr>
          <p:nvPr/>
        </p:nvSpPr>
        <p:spPr>
          <a:xfrm>
            <a:off x="2754716" y="3745383"/>
            <a:ext cx="7796540" cy="11990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44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Cocok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digunakan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untuk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studi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global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tentang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aktivitas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seismik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penelitian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keamanan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dan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mitigasi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bencana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pengembangan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model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prediksi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gempa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bumi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edukasi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masyarakat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dan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pemahaman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sumber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gempa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bumi</a:t>
            </a:r>
            <a:r>
              <a:rPr lang="en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72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B597-E8FB-EDFA-00AB-6F56CB2D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9386" y="578972"/>
            <a:ext cx="3762940" cy="107722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lazy-IBk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E4CA-2F9B-951B-2E1E-02BBCA6E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3541" y="1429658"/>
            <a:ext cx="4194629" cy="4849370"/>
          </a:xfrm>
        </p:spPr>
        <p:txBody>
          <a:bodyPr anchor="t">
            <a:noAutofit/>
          </a:bodyPr>
          <a:lstStyle/>
          <a:p>
            <a:r>
              <a:rPr lang="en-US" sz="1200" dirty="0" err="1"/>
              <a:t>Konfigurasi</a:t>
            </a:r>
            <a:r>
              <a:rPr lang="en-US" sz="1200" dirty="0"/>
              <a:t> -K 1 (</a:t>
            </a:r>
            <a:r>
              <a:rPr lang="en-US" sz="1200" dirty="0" err="1"/>
              <a:t>menggunakan</a:t>
            </a:r>
            <a:r>
              <a:rPr lang="en-US" sz="1200" dirty="0"/>
              <a:t> 1 </a:t>
            </a:r>
            <a:r>
              <a:rPr lang="en-US" sz="1200" dirty="0" err="1"/>
              <a:t>tetangga</a:t>
            </a:r>
            <a:r>
              <a:rPr lang="en-US" sz="1200" dirty="0"/>
              <a:t> terdekat) dan -W 0 (tanpa </a:t>
            </a:r>
            <a:r>
              <a:rPr lang="en-US" sz="1200" dirty="0" err="1"/>
              <a:t>penanganan</a:t>
            </a:r>
            <a:r>
              <a:rPr lang="en-US" sz="1200" dirty="0"/>
              <a:t> </a:t>
            </a:r>
            <a:r>
              <a:rPr lang="en-US" sz="1200" dirty="0" err="1"/>
              <a:t>pembobotan</a:t>
            </a:r>
            <a:r>
              <a:rPr lang="en-US" sz="1200" dirty="0"/>
              <a:t>). </a:t>
            </a:r>
          </a:p>
          <a:p>
            <a:r>
              <a:rPr lang="en-US" sz="1200" dirty="0"/>
              <a:t>Hasil evaluasi pada split data pengujian (test split) menunjukkan </a:t>
            </a:r>
            <a:r>
              <a:rPr lang="en-US" sz="1200" dirty="0" err="1"/>
              <a:t>hasil</a:t>
            </a:r>
            <a:r>
              <a:rPr lang="en-US" sz="1200" dirty="0"/>
              <a:t> yang sangat baik semua 7024 </a:t>
            </a:r>
          </a:p>
          <a:p>
            <a:r>
              <a:rPr lang="en-US" sz="1200" dirty="0" err="1"/>
              <a:t>Instansinya</a:t>
            </a:r>
            <a:r>
              <a:rPr lang="en-US" sz="1200" dirty="0"/>
              <a:t> </a:t>
            </a:r>
            <a:r>
              <a:rPr lang="en-US" sz="1200" dirty="0" err="1"/>
              <a:t>terklasifikasi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benar (100% </a:t>
            </a:r>
            <a:r>
              <a:rPr lang="en-US" sz="1200" dirty="0" err="1"/>
              <a:t>akurasi</a:t>
            </a:r>
            <a:r>
              <a:rPr lang="en-US" sz="1200" dirty="0"/>
              <a:t>).</a:t>
            </a:r>
          </a:p>
          <a:p>
            <a:r>
              <a:rPr lang="en-US" sz="1200" dirty="0"/>
              <a:t>Nilai </a:t>
            </a:r>
            <a:r>
              <a:rPr lang="en-US" sz="1200" dirty="0" err="1"/>
              <a:t>statistik</a:t>
            </a:r>
            <a:r>
              <a:rPr lang="en-US" sz="1200" dirty="0"/>
              <a:t> kappa </a:t>
            </a:r>
            <a:r>
              <a:rPr lang="en-US" sz="1200" dirty="0" err="1"/>
              <a:t>mencapai</a:t>
            </a:r>
            <a:r>
              <a:rPr lang="en-US" sz="1200" dirty="0"/>
              <a:t> 1, menunjukkan </a:t>
            </a:r>
            <a:r>
              <a:rPr lang="en-US" sz="1200" dirty="0" err="1"/>
              <a:t>kesepakatan</a:t>
            </a:r>
            <a:r>
              <a:rPr lang="en-US" sz="1200" dirty="0"/>
              <a:t> sempurna.</a:t>
            </a:r>
          </a:p>
          <a:p>
            <a:r>
              <a:rPr lang="en-US" sz="1200" dirty="0" err="1"/>
              <a:t>Metrik</a:t>
            </a:r>
            <a:r>
              <a:rPr lang="en-US" sz="1200" dirty="0"/>
              <a:t> error </a:t>
            </a:r>
            <a:r>
              <a:rPr lang="en-US" sz="1200" dirty="0" err="1"/>
              <a:t>seperti</a:t>
            </a:r>
            <a:r>
              <a:rPr lang="en-US" sz="1200" dirty="0"/>
              <a:t> mean absolute error dan root mean squared error sangat </a:t>
            </a:r>
            <a:r>
              <a:rPr lang="en-US" sz="1200" dirty="0" err="1"/>
              <a:t>rendah</a:t>
            </a:r>
            <a:r>
              <a:rPr lang="en-US" sz="1200" dirty="0"/>
              <a:t> (0.0001), menunjukkan </a:t>
            </a:r>
            <a:r>
              <a:rPr lang="en-US" sz="1200" dirty="0" err="1"/>
              <a:t>ketepatan</a:t>
            </a:r>
            <a:r>
              <a:rPr lang="en-US" sz="1200" dirty="0"/>
              <a:t> prediksi.</a:t>
            </a:r>
          </a:p>
          <a:p>
            <a:r>
              <a:rPr lang="en-US" sz="1200" dirty="0"/>
              <a:t>Evaluasi berdasarkan kelas menunjukkan </a:t>
            </a:r>
            <a:r>
              <a:rPr lang="en-US" sz="1200" dirty="0" err="1"/>
              <a:t>presisi</a:t>
            </a:r>
            <a:r>
              <a:rPr lang="en-US" sz="1200" dirty="0"/>
              <a:t>, recall, dan f-measure sebesar 1 </a:t>
            </a:r>
            <a:r>
              <a:rPr lang="en-US" sz="1200" dirty="0" err="1"/>
              <a:t>untuk</a:t>
            </a:r>
            <a:r>
              <a:rPr lang="en-US" sz="1200" dirty="0"/>
              <a:t> setiap kelas ('automatic' dan 'reviewed').</a:t>
            </a:r>
          </a:p>
          <a:p>
            <a:r>
              <a:rPr lang="en-US" sz="1200" dirty="0" err="1"/>
              <a:t>Matriks</a:t>
            </a:r>
            <a:r>
              <a:rPr lang="en-US" sz="1200" dirty="0"/>
              <a:t> konfusi menunjukkan </a:t>
            </a:r>
            <a:r>
              <a:rPr lang="en-US" sz="1200" dirty="0" err="1"/>
              <a:t>bahwa</a:t>
            </a:r>
            <a:r>
              <a:rPr lang="en-US" sz="1200" dirty="0"/>
              <a:t> tidak </a:t>
            </a:r>
            <a:r>
              <a:rPr lang="en-US" sz="1200" dirty="0" err="1"/>
              <a:t>ada</a:t>
            </a:r>
            <a:r>
              <a:rPr lang="en-US" sz="1200" dirty="0"/>
              <a:t> instansi yang salah </a:t>
            </a:r>
            <a:r>
              <a:rPr lang="en-US" sz="1200" dirty="0" err="1"/>
              <a:t>diklasifikasikan</a:t>
            </a:r>
            <a:r>
              <a:rPr lang="en-US" sz="1200" dirty="0"/>
              <a:t>. </a:t>
            </a:r>
            <a:r>
              <a:rPr lang="en-US" sz="1200" dirty="0" err="1"/>
              <a:t>Secara</a:t>
            </a:r>
            <a:r>
              <a:rPr lang="en-US" sz="1200" dirty="0"/>
              <a:t> keseluruhan, model ini </a:t>
            </a:r>
            <a:r>
              <a:rPr lang="en-US" sz="1200" dirty="0" err="1"/>
              <a:t>memberikan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yang sangat baik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klasifikasi</a:t>
            </a:r>
            <a:r>
              <a:rPr lang="en-US" sz="1200" dirty="0"/>
              <a:t> </a:t>
            </a:r>
            <a:r>
              <a:rPr lang="en-US" sz="1200" dirty="0" err="1"/>
              <a:t>gempa</a:t>
            </a:r>
            <a:r>
              <a:rPr lang="en-US" sz="1200" dirty="0"/>
              <a:t> </a:t>
            </a:r>
            <a:r>
              <a:rPr lang="en-US" sz="1200" dirty="0" err="1"/>
              <a:t>bumi</a:t>
            </a:r>
            <a:r>
              <a:rPr lang="en-US" sz="1200" dirty="0"/>
              <a:t> berdasarkan </a:t>
            </a:r>
            <a:r>
              <a:rPr lang="en-US" sz="1200" dirty="0" err="1"/>
              <a:t>atribut</a:t>
            </a:r>
            <a:r>
              <a:rPr lang="en-US" sz="1200" dirty="0"/>
              <a:t> yang </a:t>
            </a:r>
            <a:r>
              <a:rPr lang="en-US" sz="1200" dirty="0" err="1"/>
              <a:t>diberikan</a:t>
            </a:r>
            <a:r>
              <a:rPr lang="en-US" sz="1200" dirty="0"/>
              <a:t>.</a:t>
            </a:r>
            <a:endParaRPr lang="en-ID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265F3-21D9-2110-9327-A5AD82FF8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31" y="578972"/>
            <a:ext cx="6734407" cy="5139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899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B597-E8FB-EDFA-00AB-6F56CB2D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5314" y="520914"/>
            <a:ext cx="4270938" cy="107722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lazy-</a:t>
            </a:r>
            <a:r>
              <a:rPr lang="en-US" dirty="0" err="1"/>
              <a:t>KStar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E4CA-2F9B-951B-2E1E-02BBCA6E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4" y="1401474"/>
            <a:ext cx="3966138" cy="5100926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Sebanyak</a:t>
            </a:r>
            <a:r>
              <a:rPr lang="en-US" dirty="0"/>
              <a:t> 6982 instansi </a:t>
            </a:r>
            <a:r>
              <a:rPr lang="en-US" dirty="0" err="1"/>
              <a:t>terklasifikasi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benar,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sebesar 99.4%.</a:t>
            </a:r>
          </a:p>
          <a:p>
            <a:pPr>
              <a:lnSpc>
                <a:spcPct val="120000"/>
              </a:lnSpc>
            </a:pPr>
            <a:r>
              <a:rPr lang="en-US" dirty="0"/>
              <a:t>Terdapat 42 instansi yang salah </a:t>
            </a:r>
            <a:r>
              <a:rPr lang="en-US" dirty="0" err="1"/>
              <a:t>diklasifikasikan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Nilai </a:t>
            </a:r>
            <a:r>
              <a:rPr lang="en-US" dirty="0" err="1"/>
              <a:t>statistik</a:t>
            </a:r>
            <a:r>
              <a:rPr lang="en-US" dirty="0"/>
              <a:t> Kappa </a:t>
            </a:r>
            <a:r>
              <a:rPr lang="en-US" dirty="0" err="1"/>
              <a:t>mencapai</a:t>
            </a:r>
            <a:r>
              <a:rPr lang="en-US" dirty="0"/>
              <a:t> 0.9698, menunjukkan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kesepakatan</a:t>
            </a:r>
            <a:r>
              <a:rPr lang="en-US" dirty="0"/>
              <a:t> yang sangat baik.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Metrik</a:t>
            </a:r>
            <a:r>
              <a:rPr lang="en-US" dirty="0"/>
              <a:t> error </a:t>
            </a:r>
            <a:r>
              <a:rPr lang="en-US" dirty="0" err="1"/>
              <a:t>seperti</a:t>
            </a:r>
            <a:r>
              <a:rPr lang="en-US" dirty="0"/>
              <a:t> Mean Absolute Error dan Root Mean Squared Error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, menunjukkan </a:t>
            </a:r>
            <a:r>
              <a:rPr lang="en-US" dirty="0" err="1"/>
              <a:t>ketepatan</a:t>
            </a:r>
            <a:r>
              <a:rPr lang="en-US" dirty="0"/>
              <a:t> prediksi.</a:t>
            </a:r>
          </a:p>
          <a:p>
            <a:pPr>
              <a:lnSpc>
                <a:spcPct val="120000"/>
              </a:lnSpc>
            </a:pPr>
            <a:r>
              <a:rPr lang="en-US" dirty="0"/>
              <a:t>Evaluasi berdasarkan kelas menunjukkan </a:t>
            </a:r>
            <a:r>
              <a:rPr lang="en-US" dirty="0" err="1"/>
              <a:t>presisi</a:t>
            </a:r>
            <a:r>
              <a:rPr lang="en-US" dirty="0"/>
              <a:t>, recall, dan F-measure yang baik </a:t>
            </a:r>
            <a:r>
              <a:rPr lang="en-US" dirty="0" err="1"/>
              <a:t>untuk</a:t>
            </a:r>
            <a:r>
              <a:rPr lang="en-US" dirty="0"/>
              <a:t> setiap kelas ('Automatic' dan 'Reviewed').- </a:t>
            </a:r>
            <a:r>
              <a:rPr lang="en-US" dirty="0" err="1"/>
              <a:t>Matriks</a:t>
            </a:r>
            <a:r>
              <a:rPr lang="en-US" dirty="0"/>
              <a:t> konfusi menunjukkan distribusi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yang </a:t>
            </a:r>
            <a:r>
              <a:rPr lang="en-US" dirty="0" err="1"/>
              <a:t>rinci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setiap kelas.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310FE-6182-8462-4DDC-96430EB80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15" y="520914"/>
            <a:ext cx="6852446" cy="4935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571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B597-E8FB-EDFA-00AB-6F56CB2D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6089" y="549943"/>
            <a:ext cx="4270938" cy="107722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trees-</a:t>
            </a:r>
            <a:r>
              <a:rPr lang="en-US" dirty="0" err="1"/>
              <a:t>J48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E4CA-2F9B-951B-2E1E-02BBCA6E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7559" y="1393368"/>
            <a:ext cx="4147999" cy="4938029"/>
          </a:xfrm>
        </p:spPr>
        <p:txBody>
          <a:bodyPr anchor="t">
            <a:noAutofit/>
          </a:bodyPr>
          <a:lstStyle/>
          <a:p>
            <a:r>
              <a:rPr lang="en-US" sz="1500" dirty="0"/>
              <a:t>Algoritma </a:t>
            </a:r>
            <a:r>
              <a:rPr lang="en-US" sz="1500" dirty="0" err="1"/>
              <a:t>J48</a:t>
            </a:r>
            <a:r>
              <a:rPr lang="en-US" sz="1500" dirty="0"/>
              <a:t>,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konfigurasi</a:t>
            </a:r>
            <a:r>
              <a:rPr lang="en-US" sz="1500" dirty="0"/>
              <a:t> -C 0.25 (confidence factor) dan -M 2 (jumlah minimal instansi per leaf), diterapkan pada dataset </a:t>
            </a:r>
            <a:r>
              <a:rPr lang="en-US" sz="1500" dirty="0" err="1"/>
              <a:t>gempa</a:t>
            </a:r>
            <a:r>
              <a:rPr lang="en-US" sz="1500" dirty="0"/>
              <a:t> </a:t>
            </a:r>
            <a:r>
              <a:rPr lang="en-US" sz="1500" dirty="0" err="1"/>
              <a:t>bumi</a:t>
            </a:r>
            <a:r>
              <a:rPr lang="en-US" sz="1500" dirty="0"/>
              <a:t>. </a:t>
            </a:r>
          </a:p>
          <a:p>
            <a:r>
              <a:rPr lang="en-US" sz="1500" dirty="0"/>
              <a:t>Hasil evaluasi pada data pengujian menunjukkan </a:t>
            </a:r>
            <a:r>
              <a:rPr lang="en-US" sz="1500" dirty="0" err="1"/>
              <a:t>akurasi</a:t>
            </a:r>
            <a:r>
              <a:rPr lang="en-US" sz="1500" dirty="0"/>
              <a:t> </a:t>
            </a:r>
            <a:r>
              <a:rPr lang="en-US" sz="1500" dirty="0" err="1"/>
              <a:t>tinggi</a:t>
            </a:r>
            <a:r>
              <a:rPr lang="en-US" sz="1500" dirty="0"/>
              <a:t> (100%), tanpa </a:t>
            </a:r>
            <a:r>
              <a:rPr lang="en-US" sz="1500" dirty="0" err="1"/>
              <a:t>satupun</a:t>
            </a:r>
            <a:r>
              <a:rPr lang="en-US" sz="1500" dirty="0"/>
              <a:t> instansi yang salah </a:t>
            </a:r>
            <a:r>
              <a:rPr lang="en-US" sz="1500" dirty="0" err="1"/>
              <a:t>diklasifikasikan</a:t>
            </a:r>
            <a:r>
              <a:rPr lang="en-US" sz="1500" dirty="0"/>
              <a:t>. </a:t>
            </a:r>
          </a:p>
          <a:p>
            <a:r>
              <a:rPr lang="en-US" sz="1500" dirty="0" err="1"/>
              <a:t>Statistik</a:t>
            </a:r>
            <a:r>
              <a:rPr lang="en-US" sz="1500" dirty="0"/>
              <a:t> Kappa sebesar 1 menunjukkan </a:t>
            </a:r>
            <a:r>
              <a:rPr lang="en-US" sz="1500" dirty="0" err="1"/>
              <a:t>tingkat</a:t>
            </a:r>
            <a:r>
              <a:rPr lang="en-US" sz="1500" dirty="0"/>
              <a:t> </a:t>
            </a:r>
            <a:r>
              <a:rPr lang="en-US" sz="1500" dirty="0" err="1"/>
              <a:t>kesepakatan</a:t>
            </a:r>
            <a:r>
              <a:rPr lang="en-US" sz="1500" dirty="0"/>
              <a:t> sempurna. </a:t>
            </a:r>
          </a:p>
          <a:p>
            <a:r>
              <a:rPr lang="en-US" sz="1500" dirty="0" err="1"/>
              <a:t>Metrik</a:t>
            </a:r>
            <a:r>
              <a:rPr lang="en-US" sz="1500" dirty="0"/>
              <a:t> error sangat </a:t>
            </a:r>
            <a:r>
              <a:rPr lang="en-US" sz="1500" dirty="0" err="1"/>
              <a:t>rendah</a:t>
            </a:r>
            <a:r>
              <a:rPr lang="en-US" sz="1500" dirty="0"/>
              <a:t>, dan evaluasi berdasarkan kelas menunjukkan kinerja sempurna </a:t>
            </a:r>
            <a:r>
              <a:rPr lang="en-US" sz="1500" dirty="0" err="1"/>
              <a:t>untuk</a:t>
            </a:r>
            <a:r>
              <a:rPr lang="en-US" sz="1500" dirty="0"/>
              <a:t> setiap kelas ('Automatic' dan 'Reviewed’). </a:t>
            </a:r>
          </a:p>
          <a:p>
            <a:r>
              <a:rPr lang="en-US" sz="1500" dirty="0"/>
              <a:t>Keseluruhan, model </a:t>
            </a:r>
            <a:r>
              <a:rPr lang="en-US" sz="1500" dirty="0" err="1"/>
              <a:t>pohon</a:t>
            </a:r>
            <a:r>
              <a:rPr lang="en-US" sz="1500" dirty="0"/>
              <a:t> </a:t>
            </a:r>
            <a:r>
              <a:rPr lang="en-US" sz="1500" dirty="0" err="1"/>
              <a:t>J48</a:t>
            </a:r>
            <a:r>
              <a:rPr lang="en-US" sz="1500" dirty="0"/>
              <a:t> </a:t>
            </a:r>
            <a:r>
              <a:rPr lang="en-US" sz="1500" dirty="0" err="1"/>
              <a:t>memberikan</a:t>
            </a:r>
            <a:r>
              <a:rPr lang="en-US" sz="1500" dirty="0"/>
              <a:t> </a:t>
            </a:r>
            <a:r>
              <a:rPr lang="en-US" sz="1500" dirty="0" err="1"/>
              <a:t>hasil</a:t>
            </a:r>
            <a:r>
              <a:rPr lang="en-US" sz="1500" dirty="0"/>
              <a:t> </a:t>
            </a:r>
            <a:r>
              <a:rPr lang="en-US" sz="1500" dirty="0" err="1"/>
              <a:t>klasifikasi</a:t>
            </a:r>
            <a:r>
              <a:rPr lang="en-US" sz="1500" dirty="0"/>
              <a:t> yang sangat baik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identifikasi</a:t>
            </a:r>
            <a:r>
              <a:rPr lang="en-US" sz="1500" dirty="0"/>
              <a:t> </a:t>
            </a:r>
            <a:r>
              <a:rPr lang="en-US" sz="1500" dirty="0" err="1"/>
              <a:t>gempa</a:t>
            </a:r>
            <a:r>
              <a:rPr lang="en-US" sz="1500" dirty="0"/>
              <a:t> </a:t>
            </a:r>
            <a:r>
              <a:rPr lang="en-US" sz="1500" dirty="0" err="1"/>
              <a:t>bumi</a:t>
            </a:r>
            <a:r>
              <a:rPr lang="en-US" sz="1500" dirty="0"/>
              <a:t>.</a:t>
            </a:r>
            <a:endParaRPr lang="en-ID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2AF56-9A4B-69E1-DB35-D11264AF8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7" y="549943"/>
            <a:ext cx="6773328" cy="457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7032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7514381-2538-7585-B391-7A39BCF07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59839"/>
              </p:ext>
            </p:extLst>
          </p:nvPr>
        </p:nvGraphicFramePr>
        <p:xfrm>
          <a:off x="1284514" y="1387323"/>
          <a:ext cx="9622971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7657">
                  <a:extLst>
                    <a:ext uri="{9D8B030D-6E8A-4147-A177-3AD203B41FA5}">
                      <a16:colId xmlns:a16="http://schemas.microsoft.com/office/drawing/2014/main" val="260221592"/>
                    </a:ext>
                  </a:extLst>
                </a:gridCol>
                <a:gridCol w="3207657">
                  <a:extLst>
                    <a:ext uri="{9D8B030D-6E8A-4147-A177-3AD203B41FA5}">
                      <a16:colId xmlns:a16="http://schemas.microsoft.com/office/drawing/2014/main" val="620446975"/>
                    </a:ext>
                  </a:extLst>
                </a:gridCol>
                <a:gridCol w="3207657">
                  <a:extLst>
                    <a:ext uri="{9D8B030D-6E8A-4147-A177-3AD203B41FA5}">
                      <a16:colId xmlns:a16="http://schemas.microsoft.com/office/drawing/2014/main" val="1115560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lazy-IBk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lazy-</a:t>
                      </a:r>
                      <a:r>
                        <a:rPr lang="en-US" dirty="0" err="1"/>
                        <a:t>KStar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trees-</a:t>
                      </a:r>
                      <a:r>
                        <a:rPr lang="en-US" dirty="0" err="1"/>
                        <a:t>J48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2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Metode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instance-based learning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Metode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instance-based learning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343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Waktu </a:t>
                      </a:r>
                      <a:r>
                        <a:rPr lang="en-US" dirty="0" err="1"/>
                        <a:t>membangun</a:t>
                      </a:r>
                      <a:r>
                        <a:rPr lang="en-US" dirty="0"/>
                        <a:t> dan pengujian paling cepat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Waktu </a:t>
                      </a:r>
                      <a:r>
                        <a:rPr lang="en-US" dirty="0" err="1"/>
                        <a:t>membangun</a:t>
                      </a:r>
                      <a:r>
                        <a:rPr lang="en-US" dirty="0"/>
                        <a:t> dan pengujian paling </a:t>
                      </a:r>
                      <a:r>
                        <a:rPr lang="en-US" dirty="0" err="1"/>
                        <a:t>lambat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Waktu </a:t>
                      </a:r>
                      <a:r>
                        <a:rPr lang="en-US" dirty="0" err="1"/>
                        <a:t>membangun</a:t>
                      </a:r>
                      <a:r>
                        <a:rPr lang="en-US" dirty="0"/>
                        <a:t> dan pengujian cepat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17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menghasilkan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struktur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 yang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mudah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diinterpretasikan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menghasilkan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struktur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 yang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mudah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diinterpretasikan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Menghasilkan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struktur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pohon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keputusan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dapat</a:t>
                      </a:r>
                      <a:r>
                        <a:rPr lang="en-ID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diinterpretasikan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54279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C5C5963-91DA-3281-2E15-8B2562F71603}"/>
              </a:ext>
            </a:extLst>
          </p:cNvPr>
          <p:cNvSpPr txBox="1"/>
          <p:nvPr/>
        </p:nvSpPr>
        <p:spPr>
          <a:xfrm>
            <a:off x="1284514" y="4640282"/>
            <a:ext cx="6408057" cy="120032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D" dirty="0" err="1">
                <a:solidFill>
                  <a:schemeClr val="tx1"/>
                </a:solidFill>
              </a:rPr>
              <a:t>Secara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umum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semua</a:t>
            </a:r>
            <a:r>
              <a:rPr lang="en-ID" dirty="0">
                <a:solidFill>
                  <a:schemeClr val="tx1"/>
                </a:solidFill>
              </a:rPr>
              <a:t> model </a:t>
            </a:r>
            <a:r>
              <a:rPr lang="en-ID" dirty="0" err="1">
                <a:solidFill>
                  <a:schemeClr val="tx1"/>
                </a:solidFill>
              </a:rPr>
              <a:t>menunjukkan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hasil</a:t>
            </a:r>
            <a:r>
              <a:rPr lang="en-ID" dirty="0">
                <a:solidFill>
                  <a:schemeClr val="tx1"/>
                </a:solidFill>
              </a:rPr>
              <a:t> yang sangat </a:t>
            </a:r>
            <a:r>
              <a:rPr lang="en-ID" dirty="0" err="1">
                <a:solidFill>
                  <a:schemeClr val="tx1"/>
                </a:solidFill>
              </a:rPr>
              <a:t>baik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akurasi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tinggi</a:t>
            </a:r>
            <a:r>
              <a:rPr lang="en-ID" dirty="0">
                <a:solidFill>
                  <a:schemeClr val="tx1"/>
                </a:solidFill>
              </a:rPr>
              <a:t>. </a:t>
            </a:r>
            <a:r>
              <a:rPr lang="en-ID" dirty="0" err="1">
                <a:solidFill>
                  <a:schemeClr val="tx1"/>
                </a:solidFill>
              </a:rPr>
              <a:t>Pilihan</a:t>
            </a:r>
            <a:r>
              <a:rPr lang="en-ID" dirty="0">
                <a:solidFill>
                  <a:schemeClr val="tx1"/>
                </a:solidFill>
              </a:rPr>
              <a:t> model </a:t>
            </a:r>
            <a:r>
              <a:rPr lang="en-ID" dirty="0" err="1">
                <a:solidFill>
                  <a:schemeClr val="tx1"/>
                </a:solidFill>
              </a:rPr>
              <a:t>tergantung</a:t>
            </a:r>
            <a:r>
              <a:rPr lang="en-ID" dirty="0">
                <a:solidFill>
                  <a:schemeClr val="tx1"/>
                </a:solidFill>
              </a:rPr>
              <a:t> pada </a:t>
            </a:r>
            <a:r>
              <a:rPr lang="en-ID" dirty="0" err="1">
                <a:solidFill>
                  <a:schemeClr val="tx1"/>
                </a:solidFill>
              </a:rPr>
              <a:t>preferensi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kebutuhan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spesifik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dari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aplikasi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atau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analisis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diinginkan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418869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451</TotalTime>
  <Words>456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Wisp</vt:lpstr>
      <vt:lpstr>Significant Earthquakes, 1965-2016</vt:lpstr>
      <vt:lpstr>Penjelasan</vt:lpstr>
      <vt:lpstr>Algoritma lazy-IBk</vt:lpstr>
      <vt:lpstr>Algoritma lazy-KStar</vt:lpstr>
      <vt:lpstr>Algoritma trees-J48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Significant Earthquakes, 1965-2016</dc:title>
  <dc:creator>Jundiah Indira</dc:creator>
  <cp:lastModifiedBy>Jundiah Indira</cp:lastModifiedBy>
  <cp:revision>71</cp:revision>
  <dcterms:created xsi:type="dcterms:W3CDTF">2023-11-19T22:23:25Z</dcterms:created>
  <dcterms:modified xsi:type="dcterms:W3CDTF">2023-11-27T04:19:13Z</dcterms:modified>
</cp:coreProperties>
</file>